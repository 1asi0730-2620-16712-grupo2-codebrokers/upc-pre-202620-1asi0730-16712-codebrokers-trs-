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32"/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32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al público qué sitios utiliza y muestra un navegador.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 la comparación de una casa y muestra HTML/CSS lado a 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Abre https://codepen.io/pen/ y recorre los paneles lentamente.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Introducción opcional. No incluir nombres de autores ni branding en el contenido.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1371600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300" b="1">
                <a:solidFill>
                  <a:srgbClr val="F8FAFC"/>
                </a:solidFill>
                <a:latin typeface="Aptos"/>
              </a:defRPr>
            </a:pPr>
            <a:r>
              <a:t>TU PRIMERA PÁGINA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2331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94A3B8"/>
                </a:solidFill>
                <a:latin typeface="Aptos"/>
              </a:defRPr>
            </a:pPr>
            <a:r>
              <a:t>Curso de HTML y CSS para estudiantes de secundaria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2377440"/>
            <a:ext cx="2103120" cy="2286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000" b="1">
                <a:solidFill>
                  <a:srgbClr val="0F172A"/>
                </a:solidFill>
                <a:latin typeface="Aptos"/>
              </a:defRPr>
            </a:pPr>
            <a:r>
              <a:t>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3566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0F172A"/>
                </a:solidFill>
                <a:latin typeface="Aptos"/>
              </a:defRPr>
            </a:pPr>
            <a:r>
              <a:t>Contenido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2377440"/>
            <a:ext cx="2103120" cy="22860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000" b="1">
                <a:solidFill>
                  <a:srgbClr val="0F172A"/>
                </a:solidFill>
                <a:latin typeface="Aptos"/>
              </a:defRPr>
            </a:pPr>
            <a:r>
              <a:t>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3566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0F172A"/>
                </a:solidFill>
                <a:latin typeface="Aptos"/>
              </a:defRPr>
            </a:pPr>
            <a:r>
              <a:t>Apariencia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15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4D399"/>
                </a:solidFill>
                <a:latin typeface="Aptos"/>
              </a:defRPr>
            </a:pPr>
            <a:r>
              <a:t>6 lecciones  •  6 expositores  •  ~60 minutos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4D399"/>
                </a:solidFill>
                <a:latin typeface="Aptos"/>
              </a:defRPr>
            </a:pPr>
            <a:r>
              <a:t>LECCIÓN 1  •  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F8FAFC"/>
                </a:solidFill>
                <a:latin typeface="Aptos"/>
              </a:defRPr>
            </a:pPr>
            <a:r>
              <a:t>La web está en todas partes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4A3B8"/>
                </a:solidFill>
                <a:latin typeface="Aptos"/>
              </a:defRPr>
            </a:pPr>
            <a:r>
              <a:t>YouTube, videojuegos, blogs y sitios educativos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645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FUNDAMENTOS DE DESARROLLO WEB  •  HTML +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18872" cy="11887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267712"/>
            <a:ext cx="56692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¿Qué páginas visitas a diario?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18872" cy="11887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71800"/>
            <a:ext cx="56692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Una página muestra información en el navegador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85616"/>
            <a:ext cx="118872" cy="11887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675887"/>
            <a:ext cx="56692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Hoy construiremos nuestra primera web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377440"/>
            <a:ext cx="4389120" cy="2926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03720" y="2377440"/>
            <a:ext cx="4389120" cy="420624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43230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●  ●  ●      mi-pagina.com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163824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F172A"/>
                </a:solidFill>
                <a:latin typeface="Aptos"/>
              </a:defRPr>
            </a:pPr>
            <a:r>
              <a:t>¡Hola, mundo!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9502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75569"/>
                </a:solidFill>
                <a:latin typeface="Aptos"/>
              </a:defRPr>
            </a:pPr>
            <a:r>
              <a:t>Mi primera página web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4D399"/>
                </a:solidFill>
                <a:latin typeface="Aptos"/>
              </a:defRPr>
            </a:pPr>
            <a:r>
              <a:t>LECCIÓN 1  •  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F8FAFC"/>
                </a:solidFill>
                <a:latin typeface="Aptos"/>
              </a:defRPr>
            </a:pPr>
            <a:r>
              <a:t>HTML + CSS: un gran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4A3B8"/>
                </a:solidFill>
                <a:latin typeface="Aptos"/>
              </a:defRPr>
            </a:pPr>
            <a:r>
              <a:t>Estructura y apariencia trabajan juntas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645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FUNDAMENTOS DE DESARROLLO WEB  •  HTML +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18872" cy="11887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267712"/>
            <a:ext cx="56692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HTML organiza títulos, textos e imágenes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18872" cy="11887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71800"/>
            <a:ext cx="56692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CSS añade colores, tamaños y diseño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85616"/>
            <a:ext cx="118872" cy="11887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675887"/>
            <a:ext cx="56692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Como una casa: estructura + decoración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377440"/>
            <a:ext cx="2103120" cy="2286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000" b="1">
                <a:solidFill>
                  <a:srgbClr val="0F172A"/>
                </a:solidFill>
                <a:latin typeface="Aptos"/>
              </a:defRPr>
            </a:pPr>
            <a:r>
              <a:t>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566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0F172A"/>
                </a:solidFill>
                <a:latin typeface="Aptos"/>
              </a:defRPr>
            </a:pPr>
            <a:r>
              <a:t>Contenido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2377440"/>
            <a:ext cx="2103120" cy="22860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7432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000" b="1">
                <a:solidFill>
                  <a:srgbClr val="0F172A"/>
                </a:solidFill>
                <a:latin typeface="Aptos"/>
              </a:defRPr>
            </a:pPr>
            <a:r>
              <a:t>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566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0F172A"/>
                </a:solidFill>
                <a:latin typeface="Aptos"/>
              </a:defRPr>
            </a:pPr>
            <a:r>
              <a:t>Apariencia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4D399"/>
                </a:solidFill>
                <a:latin typeface="Aptos"/>
              </a:defRPr>
            </a:pPr>
            <a:r>
              <a:t>LECCIÓN 1  •  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300" b="1">
                <a:solidFill>
                  <a:srgbClr val="F8FAFC"/>
                </a:solidFill>
                <a:latin typeface="Aptos"/>
              </a:defRPr>
            </a:pPr>
            <a:r>
              <a:t>Conoce CodePen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57276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94A3B8"/>
                </a:solidFill>
                <a:latin typeface="Aptos"/>
              </a:defRPr>
            </a:pPr>
            <a:r>
              <a:t>Todo desde el navegador, sin instalar nada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6459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94A3B8"/>
                </a:solidFill>
                <a:latin typeface="Aptos"/>
              </a:defRPr>
            </a:pPr>
            <a:r>
              <a:t>FUNDAMENTOS DE DESARROLLO WEB  •  HTML +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18872" cy="11887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267712"/>
            <a:ext cx="56692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Panel HTML: contenido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18872" cy="11887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71800"/>
            <a:ext cx="56692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Panel CSS: estilos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85616"/>
            <a:ext cx="118872" cy="11887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675887"/>
            <a:ext cx="56692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8FAFC"/>
                </a:solidFill>
                <a:latin typeface="Aptos"/>
              </a:defRPr>
            </a:pPr>
            <a:r>
              <a:t>Vista previa: resultado inmediato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377440"/>
            <a:ext cx="4389120" cy="2926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03720" y="2377440"/>
            <a:ext cx="4389120" cy="420624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43230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0F172A"/>
                </a:solidFill>
                <a:latin typeface="Aptos"/>
              </a:defRPr>
            </a:pPr>
            <a:r>
              <a:t>●  ●  ●      mi-pagina.com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163824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0F172A"/>
                </a:solidFill>
                <a:latin typeface="Aptos"/>
              </a:defRPr>
            </a:pPr>
            <a:r>
              <a:t>¡Hola, mundo!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9502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475569"/>
                </a:solidFill>
                <a:latin typeface="Aptos"/>
              </a:defRPr>
            </a:pPr>
            <a:r>
              <a:t>Mi primera página web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